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3359"/>
          </a:solidFill>
          <a:ln>
            <a:solidFill>
              <a:srgbClr val="1C3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3359"/>
                </a:solidFill>
              </a:defRPr>
            </a:pPr>
            <a:r>
              <a:t>Synthetic Finance Test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5959"/>
                </a:solidFill>
              </a:defRPr>
            </a:pPr>
            <a:r>
              <a:t>Made-up content for parser/rendering tests (quality intentionally unimportant)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Includes bullets, tables, shapes, and mixed formatting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359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Simple 6-slide example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669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3359"/>
                </a:solidFill>
              </a:defRPr>
            </a:pPr>
            <a:r>
              <a:t>Company snapshot (synthetic)</a:t>
            </a:r>
          </a:p>
          <a:p>
            <a:pPr>
              <a:spcAft>
                <a:spcPts val="1000"/>
              </a:spcAft>
              <a:defRPr sz="1800">
                <a:solidFill>
                  <a:srgbClr val="1C3359"/>
                </a:solidFill>
              </a:defRPr>
            </a:pPr>
            <a:r>
              <a:t>Key DCF assumptions</a:t>
            </a:r>
          </a:p>
          <a:p>
            <a:pPr>
              <a:spcAft>
                <a:spcPts val="1000"/>
              </a:spcAft>
              <a:defRPr sz="1800">
                <a:solidFill>
                  <a:srgbClr val="1C3359"/>
                </a:solidFill>
              </a:defRPr>
            </a:pPr>
            <a:r>
              <a:t>Illustrative valuation output</a:t>
            </a:r>
          </a:p>
          <a:p>
            <a:pPr>
              <a:spcAft>
                <a:spcPts val="1000"/>
              </a:spcAft>
              <a:defRPr sz="1800">
                <a:solidFill>
                  <a:srgbClr val="1C3359"/>
                </a:solidFill>
              </a:defRPr>
            </a:pPr>
            <a:r>
              <a:t>Balance sheet snapshot</a:t>
            </a:r>
          </a:p>
          <a:p>
            <a:pPr>
              <a:spcAft>
                <a:spcPts val="1000"/>
              </a:spcAft>
              <a:defRPr sz="1800">
                <a:solidFill>
                  <a:srgbClr val="1C3359"/>
                </a:solidFill>
              </a:defRPr>
            </a:pPr>
            <a:r>
              <a:t>Notes for test parsing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645920"/>
            <a:ext cx="3566160" cy="731520"/>
          </a:xfrm>
          <a:prstGeom prst="round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0" y="181051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651760"/>
            <a:ext cx="3566160" cy="731520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81635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Calc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657600"/>
            <a:ext cx="3566160" cy="73152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3822191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663440"/>
            <a:ext cx="3566160" cy="7315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48280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359"/>
                </a:solidFill>
              </a:defRPr>
            </a:pPr>
            <a:r>
              <a:t>Synthetic Company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Illustrative metrics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516636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164592" cy="141732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Revenue (LTM)</a:t>
            </a:r>
          </a:p>
          <a:p>
            <a:pPr>
              <a:defRPr sz="2400" b="1">
                <a:solidFill>
                  <a:srgbClr val="1C3359"/>
                </a:solidFill>
              </a:defRPr>
            </a:pPr>
            <a:r>
              <a:t>$1,000mm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516636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737360"/>
            <a:ext cx="164592" cy="141732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1920240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EBIT Margin</a:t>
            </a:r>
          </a:p>
          <a:p>
            <a:pPr>
              <a:defRPr sz="2400" b="1">
                <a:solidFill>
                  <a:srgbClr val="1C3359"/>
                </a:solidFill>
              </a:defRPr>
            </a:pPr>
            <a:r>
              <a:t>22.0%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20439"/>
            <a:ext cx="516636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520439"/>
            <a:ext cx="164592" cy="141732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WACC</a:t>
            </a:r>
          </a:p>
          <a:p>
            <a:pPr>
              <a:defRPr sz="2400" b="1">
                <a:solidFill>
                  <a:srgbClr val="1C3359"/>
                </a:solidFill>
              </a:defRPr>
            </a:pPr>
            <a:r>
              <a:t>10.0%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520439"/>
            <a:ext cx="5166360" cy="1417320"/>
          </a:xfrm>
          <a:prstGeom prst="roundRect">
            <a:avLst/>
          </a:prstGeom>
          <a:solidFill>
            <a:srgbClr val="F2F2F2"/>
          </a:solidFill>
          <a:ln>
            <a:solidFill>
              <a:srgbClr val="1C3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520439"/>
            <a:ext cx="164592" cy="1417320"/>
          </a:xfrm>
          <a:prstGeom prst="rect">
            <a:avLst/>
          </a:prstGeom>
          <a:solidFill>
            <a:srgbClr val="1C3359"/>
          </a:solidFill>
          <a:ln>
            <a:solidFill>
              <a:srgbClr val="1C33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3703320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Implied Px</a:t>
            </a:r>
          </a:p>
          <a:p>
            <a:pPr>
              <a:defRPr sz="2400" b="1">
                <a:solidFill>
                  <a:srgbClr val="1C3359"/>
                </a:solidFill>
              </a:defRPr>
            </a:pPr>
            <a:r>
              <a:t>$12.34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95959"/>
                </a:solidFill>
              </a:defRPr>
            </a:pPr>
            <a:r>
              <a:t>Numbers are placeholders and do not tie to a real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359"/>
                </a:solidFill>
              </a:defRPr>
            </a:pPr>
            <a:r>
              <a:t>DCF Assumptions (Test Data)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Mixed text and numeric formatting for 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78638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920240"/>
                <a:gridCol w="2468880"/>
              </a:tblGrid>
              <a:tr h="44348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1C33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C33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Comment</a:t>
                      </a:r>
                    </a:p>
                  </a:txBody>
                  <a:tcPr>
                    <a:solidFill>
                      <a:srgbClr val="1C3359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Base Revenue ($mm)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1,000.0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Placeholder</a:t>
                      </a:r>
                    </a:p>
                  </a:txBody>
                  <a:tcPr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EBIT Margin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22.0%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Flat margin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Tax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Assumed</a:t>
                      </a:r>
                    </a:p>
                  </a:txBody>
                  <a:tcPr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D&amp;A % Revenue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Simple 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Capex %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Simple %</a:t>
                      </a:r>
                    </a:p>
                  </a:txBody>
                  <a:tcPr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NWC % Revenue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Simple 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WACC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Discount rate</a:t>
                      </a:r>
                    </a:p>
                  </a:txBody>
                  <a:tcPr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Terminal Growth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Perpetuity g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Shares Out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For price/share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732520" y="1600200"/>
            <a:ext cx="27432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828800"/>
            <a:ext cx="22860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C3359"/>
                </a:solidFill>
              </a:defRPr>
            </a:pPr>
            <a:r>
              <a:t>Testing Notes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Table object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Alternating row fills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Percent strings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Header styling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Non-essential comments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359"/>
                </a:solidFill>
              </a:defRPr>
            </a:pPr>
            <a:r>
              <a:t>Illustrative Valuation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Pseudo-chart using colored rectangles (not a native chart)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4572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554480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C33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C335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PV of UFCF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$415.0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PV of Terminal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$1,415.0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Enterprise Value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$1,830.0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Net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C00000"/>
                          </a:solidFill>
                        </a:defRPr>
                      </a:pPr>
                      <a:r>
                        <a:t>($350.0)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Equity Value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$1,480.0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Implied Price /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$12.33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C3359"/>
                </a:solidFill>
              </a:defRPr>
            </a:pPr>
            <a:r>
              <a:t>EV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828800"/>
            <a:ext cx="3657600" cy="41148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C3359"/>
                </a:solidFill>
              </a:defRPr>
            </a:pPr>
            <a:r>
              <a:t>Net Debt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2280" y="3017520"/>
            <a:ext cx="731520" cy="4114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4206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C3359"/>
                </a:solidFill>
              </a:defRPr>
            </a:pPr>
            <a:r>
              <a:t>Equity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4206240"/>
            <a:ext cx="2926080" cy="411480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525780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This slide intentionally uses shape-based “chart” elements to test extraction of non-chart visuals.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359"/>
                </a:solidFill>
              </a:defRPr>
            </a:pPr>
            <a:r>
              <a:t>Balance Sheet Snapshot (2030E)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Standalone synthetic balance sheet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394960" cy="4480560"/>
          </a:xfrm>
          <a:prstGeom prst="roundRect">
            <a:avLst/>
          </a:prstGeom>
          <a:solidFill>
            <a:srgbClr val="FAFCFF"/>
          </a:solidFill>
          <a:ln>
            <a:solidFill>
              <a:srgbClr val="C8D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600200"/>
            <a:ext cx="5212080" cy="4480560"/>
          </a:xfrm>
          <a:prstGeom prst="roundRect">
            <a:avLst/>
          </a:prstGeom>
          <a:solidFill>
            <a:srgbClr val="FCFCFC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8463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E75B6"/>
                </a:solidFill>
                <a:latin typeface="Courier New"/>
              </a:defRPr>
            </a:pPr>
            <a:r>
              <a:t>Assets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Cash                     $151.0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Accounts Receivable      $100.0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Inventory                 $62.0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Other Current Assets      $37.0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Total Current Assets     $350.0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PP&amp;E, net                $337.0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Intangibles              $150.0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Other Assets              $50.0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Total Assets             $887.0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874519"/>
            <a:ext cx="48463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D7D31"/>
                </a:solidFill>
                <a:latin typeface="Courier New"/>
              </a:defRPr>
            </a:pPr>
            <a:r>
              <a:t>Liabilities &amp; Equity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Accounts Payable          $75.0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Accrued Liabilities       $50.0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Short-Term Debt           $25.0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Total Current Liab.      $150.0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Long-Term Debt           $350.0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Other Liabilities         $25.0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Total Liabilities        $525.0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Total Equity             $362.0</a:t>
            </a:r>
          </a:p>
          <a:p>
            <a:pPr>
              <a:spcAft>
                <a:spcPts val="200"/>
              </a:spcAft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Total L+E                $887.0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172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0AD47"/>
                </a:solidFill>
              </a:defRPr>
            </a:pPr>
            <a:r>
              <a:t>Balance Check: 0.00  |  Status: 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359"/>
                </a:solidFill>
              </a:defRPr>
            </a:pPr>
            <a:r>
              <a:t>Notes / Edge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Small content variations for test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548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359"/>
                </a:solidFill>
              </a:defRPr>
            </a:pPr>
            <a:r>
              <a:t>Parsing Targets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t>Bulleted lists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t>Tables vs text boxes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t>Shapes with labels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t>Mixed numeric strings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t>Header/footer-like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47548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359"/>
                </a:solidFill>
              </a:defRPr>
            </a:pPr>
            <a:r>
              <a:t>Known Limitations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t>No native chart objects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t>No embedded images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t>No slide transitions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t>No speaker notes content</a:t>
            </a:r>
          </a:p>
          <a:p>
            <a:pPr>
              <a:spcAft>
                <a:spcPts val="600"/>
              </a:spcAft>
              <a:defRPr sz="1300">
                <a:solidFill>
                  <a:srgbClr val="595959"/>
                </a:solidFill>
              </a:defRPr>
            </a:pPr>
            <a:r>
              <a:t>No hyperlinks/macros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95959"/>
                </a:solidFill>
              </a:defRPr>
            </a:pPr>
            <a:r>
              <a:t>End of synthetic test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